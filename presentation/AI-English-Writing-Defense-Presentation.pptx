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51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865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620" y="372249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 dirty="0">
                <a:solidFill>
                  <a:srgbClr val="FFFFFF"/>
                </a:solidFill>
                <a:latin typeface="Segoe UI"/>
              </a:rPr>
              <a:t>AI ENGLISH 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" y="1172349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 dirty="0" err="1">
                <a:solidFill>
                  <a:srgbClr val="C7D2FE"/>
                </a:solidFill>
                <a:latin typeface="Segoe UI"/>
              </a:rPr>
              <a:t>Hệ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thống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luyện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viết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tiếng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Anh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có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hỗ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trợ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đánh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giá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7D2FE"/>
                </a:solidFill>
                <a:latin typeface="Segoe UI"/>
              </a:rPr>
              <a:t>bằng</a:t>
            </a:r>
            <a:r>
              <a:rPr sz="1800" b="0" i="0" dirty="0">
                <a:solidFill>
                  <a:srgbClr val="C7D2FE"/>
                </a:solidFill>
                <a:latin typeface="Segoe UI"/>
              </a:rPr>
              <a:t>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" y="2159901"/>
            <a:ext cx="211591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E2E8F0"/>
                </a:solidFill>
                <a:latin typeface="Segoe UI"/>
              </a:rPr>
              <a:t>React + 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5946" y="2159901"/>
            <a:ext cx="2012591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E2E8F0"/>
                </a:solidFill>
                <a:latin typeface="Segoe UI"/>
              </a:rPr>
              <a:t>Node.js / 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0342" y="2155475"/>
            <a:ext cx="979321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E2E8F0"/>
                </a:solidFill>
                <a:latin typeface="Segoe UI"/>
              </a:rPr>
              <a:t>MongoDB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1468" y="2159901"/>
            <a:ext cx="190926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E2E8F0"/>
                </a:solidFill>
                <a:latin typeface="Segoe UI"/>
              </a:rPr>
              <a:t>Google Gemini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92040"/>
            <a:ext cx="1060704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" y="3020764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93C5FD"/>
                </a:solidFill>
                <a:latin typeface="Segoe UI"/>
              </a:rPr>
              <a:t>SINH VIÊN THỰC 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" y="3299754"/>
            <a:ext cx="3429000" cy="669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vi-VN" sz="1450" b="1" dirty="0">
                <a:solidFill>
                  <a:srgbClr val="FFFFFF"/>
                </a:solidFill>
                <a:latin typeface="Segoe UI"/>
              </a:rPr>
              <a:t>TRẦN HUY HOÀNG-0031267</a:t>
            </a:r>
            <a:endParaRPr lang="vi-VN" sz="145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endParaRPr lang="vi-VN" sz="1450" b="1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endParaRPr lang="vi-VN" sz="145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04665" y="3020763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93C5FD"/>
                </a:solidFill>
                <a:latin typeface="Segoe UI"/>
              </a:rPr>
              <a:t>GIẢNG VIÊN HƯỚNG DẪN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466" y="3299754"/>
            <a:ext cx="3429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vi-VN" sz="1450" b="1" i="0" dirty="0">
                <a:solidFill>
                  <a:srgbClr val="FFFFFF"/>
                </a:solidFill>
                <a:latin typeface="Segoe UI"/>
              </a:rPr>
              <a:t>NGUYỄN HỒNG HẠNH</a:t>
            </a:r>
            <a:endParaRPr sz="145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4502" y="3020862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93C5FD"/>
                </a:solidFill>
                <a:latin typeface="Segoe UI"/>
              </a:rPr>
              <a:t>TRƯờNG / KHOA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3665" y="3299754"/>
            <a:ext cx="34290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vi-VN" sz="1450" b="1" dirty="0">
                <a:solidFill>
                  <a:srgbClr val="FFFFFF"/>
                </a:solidFill>
                <a:latin typeface="Segoe UI"/>
              </a:rPr>
              <a:t>ĐẠI HỌC XÂY DỰNG</a:t>
            </a:r>
            <a:r>
              <a:rPr sz="1450" b="1" i="0" dirty="0">
                <a:solidFill>
                  <a:srgbClr val="FFFFFF"/>
                </a:solidFill>
                <a:latin typeface="Segoe UI"/>
              </a:rPr>
              <a:t> - Khoa CNTT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01 -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Bối cảnh và vấn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7040880" cy="281519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Khó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tự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đánh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giá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người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học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viết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Anh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nhưng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không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biết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câu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vừa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viết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đúng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hay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sai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ở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đâu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Khó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phát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hiện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lỗi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cụ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thể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lỗi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Ngữ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pháp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Từ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vựng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Cấu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trúc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câu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thường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bị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bỏ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qua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nếu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không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có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người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chấm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Giáo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viên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không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thể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phản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hồi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tức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thời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mỗi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lớp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có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rất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nhiều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học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viên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không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thể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chấm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và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giải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thích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từng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câu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ngay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lập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tức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Nền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tảng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luyện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tập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thông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thường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chưa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cá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nhân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Segoe UI"/>
              </a:rPr>
              <a:t>hóa</a:t>
            </a:r>
            <a:r>
              <a:rPr sz="1600" b="1" dirty="0">
                <a:solidFill>
                  <a:srgbClr val="334155"/>
                </a:solidFill>
                <a:latin typeface="Segoe UI"/>
              </a:rPr>
              <a:t>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đề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bài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cố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định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không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sinh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theo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đúng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chủ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đề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/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thì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/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cấp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độ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người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học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đang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cần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9164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1920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46E5"/>
                </a:solidFill>
                <a:latin typeface="Segoe UI"/>
              </a:rPr>
              <a:t>=&gt;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468880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0F172A"/>
                </a:solidFill>
                <a:latin typeface="Segoe UI"/>
              </a:rPr>
              <a:t>Cần</a:t>
            </a:r>
            <a:r>
              <a:rPr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b="1" i="0" dirty="0" err="1">
                <a:solidFill>
                  <a:srgbClr val="0F172A"/>
                </a:solidFill>
                <a:latin typeface="Segoe UI"/>
              </a:rPr>
              <a:t>một</a:t>
            </a:r>
            <a:r>
              <a:rPr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b="1" i="0" dirty="0" err="1">
                <a:solidFill>
                  <a:srgbClr val="0F172A"/>
                </a:solidFill>
                <a:latin typeface="Segoe UI"/>
              </a:rPr>
              <a:t>hệ</a:t>
            </a:r>
            <a:r>
              <a:rPr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b="1" i="0" dirty="0" err="1">
                <a:solidFill>
                  <a:srgbClr val="0F172A"/>
                </a:solidFill>
                <a:latin typeface="Segoe UI"/>
              </a:rPr>
              <a:t>thống</a:t>
            </a:r>
            <a:r>
              <a:rPr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b="1" i="0" dirty="0" err="1">
                <a:solidFill>
                  <a:srgbClr val="0F172A"/>
                </a:solidFill>
                <a:latin typeface="Segoe UI"/>
              </a:rPr>
              <a:t>có</a:t>
            </a:r>
            <a:r>
              <a:rPr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b="1" i="0" dirty="0" err="1">
                <a:solidFill>
                  <a:srgbClr val="0F172A"/>
                </a:solidFill>
                <a:latin typeface="Segoe UI"/>
              </a:rPr>
              <a:t>thể</a:t>
            </a:r>
            <a:r>
              <a:rPr b="1" i="0" dirty="0">
                <a:solidFill>
                  <a:srgbClr val="0F172A"/>
                </a:solidFill>
                <a:latin typeface="Segoe UI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971800"/>
            <a:ext cx="3063240" cy="258436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dirty="0">
                <a:solidFill>
                  <a:srgbClr val="10B981"/>
                </a:solidFill>
                <a:latin typeface="Segoe UI"/>
              </a:rPr>
              <a:t>•</a:t>
            </a:r>
            <a:r>
              <a:rPr sz="1600" b="1" dirty="0">
                <a:solidFill>
                  <a:srgbClr val="10B981"/>
                </a:solidFill>
                <a:latin typeface="Segoe UI"/>
              </a:rPr>
              <a:t>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Tự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động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sinh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đề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luyện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tập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theo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trình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độ</a:t>
            </a:r>
            <a:endParaRPr sz="16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Tự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động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đánh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giá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câu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trả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lời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bằng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AI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Phản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hồi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chi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tiết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tức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thì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bằng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Việt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Lưu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lịch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sử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&amp;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thống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kê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độ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học</a:t>
            </a:r>
            <a:endParaRPr sz="1600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Bối cảnh &amp; Vấn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01 -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Mục tiêu đề tài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257800" cy="12070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9224" y="183794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19656"/>
            <a:ext cx="425196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 i="0">
                <a:solidFill>
                  <a:srgbClr val="1E293B"/>
                </a:solidFill>
                <a:latin typeface="Segoe UI"/>
              </a:rPr>
              <a:t>Xây dựng nền tảng web luyện viết tiếng Anh hoàn chỉnh (User Portal + Admin Portal).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257800" cy="12070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81344" y="183794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19656"/>
            <a:ext cx="425196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 i="0">
                <a:solidFill>
                  <a:srgbClr val="1E293B"/>
                </a:solidFill>
                <a:latin typeface="Segoe UI"/>
              </a:rPr>
              <a:t>Cho phép luyện tập theo cấp độ CEFR (A1-C2), chủ đề và chủ điểm ngữ pháp.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99816"/>
            <a:ext cx="5257800" cy="12070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" y="324612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27832"/>
            <a:ext cx="425196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 i="0">
                <a:solidFill>
                  <a:srgbClr val="1E293B"/>
                </a:solidFill>
                <a:latin typeface="Segoe UI"/>
              </a:rPr>
              <a:t>Tích hợp AI (Google Gemini) để tự động đánh giá câu trả lời của người học.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099816"/>
            <a:ext cx="5257800" cy="12070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81344" y="324612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27832"/>
            <a:ext cx="425196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 i="0">
                <a:solidFill>
                  <a:srgbClr val="1E293B"/>
                </a:solidFill>
                <a:latin typeface="Segoe UI"/>
              </a:rPr>
              <a:t>Trả về điểm số và phản hồi chi tiết, cụ thể bằng tiếng Việt.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07992"/>
            <a:ext cx="5257800" cy="12070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" y="4654296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36008"/>
            <a:ext cx="425196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 i="0">
                <a:solidFill>
                  <a:srgbClr val="1E293B"/>
                </a:solidFill>
                <a:latin typeface="Segoe UI"/>
              </a:rPr>
              <a:t>Lưu lịch sử làm bài và thống kê tiến độ, chẩn đoán điểm yếu bằng 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507992"/>
            <a:ext cx="5257800" cy="12070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81344" y="4654296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636008"/>
            <a:ext cx="425196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 i="0">
                <a:solidFill>
                  <a:srgbClr val="1E293B"/>
                </a:solidFill>
                <a:latin typeface="Segoe UI"/>
              </a:rPr>
              <a:t>Xây dựng hệ thống quản trị (Admin) quản lý người dùng, câu hỏi, nội dung học.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Mục tiêu đề tài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01 -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Đối tượng và phạm vi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HỌC VIÊN (USER)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7627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Người luyện viết tiếng Anh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5394960" cy="3520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8463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Đăng ký / Đăng nhập riêng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Writing Learning: 12 thì ngữ pháp + 7 chủ đề kỹ năng viết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Luyện viết câu (AI Writing / Sentence Writing)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Ngân hàng câu hỏi có sẵn (~100 câu, A1-C2)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Viết đoạn văn (Paragraph Writing) có AI sinh đề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Nhận đánh giá AI: điểm số + lỗi + gợi ý sửa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Xem thống kê tiến độ và chẩn đoán điểm yếu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01368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QUẢN TRỊ VIÊN (ADMIN)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7627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Người vận hành hệ thống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97480"/>
            <a:ext cx="5394960" cy="3520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48463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9333EA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Đăng nhập riêng, tách biệt hoàn toàn với User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9333EA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Quản lý người dùng: khóa/mở khóa, sửa, xóa, tạo mới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9333EA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Quản lý ngân hàng câu hỏi Sentence Writing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9333EA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Quản lý đề Viết đoạn văn và nội dung Writing Learning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9333EA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Tra cứu Cấp độ CEFR (A1-C2)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9333EA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Xem lịch sử chấm bài AI hợp nhất của toàn hệ thống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60" b="1">
                <a:solidFill>
                  <a:srgbClr val="9333EA"/>
                </a:solidFill>
                <a:latin typeface="Segoe UI"/>
              </a:rPr>
              <a:t>•  </a:t>
            </a:r>
            <a:r>
              <a:rPr sz="1260">
                <a:solidFill>
                  <a:srgbClr val="334155"/>
                </a:solidFill>
                <a:latin typeface="Segoe UI"/>
              </a:rPr>
              <a:t>Dashboard thống kê tổng quan hệ thống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Đối tượng &amp; Phạm 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02 - GIẢI PHÁP &amp;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Giải pháp đề xuất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569"/>
                </a:solidFill>
                <a:latin typeface="Segoe UI"/>
              </a:rPr>
              <a:t>Xây dựng ứng dụng web 3 lớp (Frontend - API - Backend), trong đó lớp nghiệp vụ gọi đến một AI Service riêng biệt để đánh giá bài viết, kết quả được lưu lại và phản hồi ngay cho người học.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Người học</a:t>
            </a:r>
          </a:p>
          <a:p>
            <a:pPr algn="ctr"/>
            <a:r>
              <a:rPr sz="1000" b="0">
                <a:solidFill>
                  <a:srgbClr val="E9E8FF"/>
                </a:solidFill>
                <a:latin typeface="Segoe UI"/>
              </a:rPr>
              <a:t>Nhập câu trả lời tiếng Anh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52928" y="2674620"/>
            <a:ext cx="274320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54680" y="237744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React Frontend</a:t>
            </a:r>
          </a:p>
          <a:p>
            <a:pPr algn="ctr"/>
            <a:r>
              <a:rPr sz="1000" b="0">
                <a:solidFill>
                  <a:srgbClr val="E9E8FF"/>
                </a:solidFill>
                <a:latin typeface="Segoe UI"/>
              </a:rPr>
              <a:t>User SPA + Admin SPA (Vite)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04688" y="2674620"/>
            <a:ext cx="274320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06440" y="237744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REST API (Express)</a:t>
            </a:r>
          </a:p>
          <a:p>
            <a:pPr algn="ctr"/>
            <a:r>
              <a:rPr sz="1000" b="0">
                <a:solidFill>
                  <a:srgbClr val="E9E8FF"/>
                </a:solidFill>
                <a:latin typeface="Segoe UI"/>
              </a:rPr>
              <a:t>Xác thực, định tuyến, validate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56448" y="2674620"/>
            <a:ext cx="274320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58200" y="2377440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Business Logic</a:t>
            </a:r>
          </a:p>
          <a:p>
            <a:pPr algn="ctr"/>
            <a:r>
              <a:rPr sz="1000" b="0">
                <a:solidFill>
                  <a:srgbClr val="E9E8FF"/>
                </a:solidFill>
                <a:latin typeface="Segoe UI"/>
              </a:rPr>
              <a:t>Các Service xử lý nghiệp vụ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496044" y="3291840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94760" y="4297679"/>
            <a:ext cx="3200400" cy="822960"/>
          </a:xfrm>
          <a:prstGeom prst="roundRect">
            <a:avLst>
              <a:gd name="adj" fmla="val 9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MongoDB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Lưu dữ liệu người dùng, câu hỏi, kết quả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297679"/>
            <a:ext cx="3200400" cy="822960"/>
          </a:xfrm>
          <a:prstGeom prst="roundRect">
            <a:avLst>
              <a:gd name="adj" fmla="val 9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AI Service -&gt; Gemini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Đánh giá / sinh đề bằng AI thật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285232" y="3959351"/>
            <a:ext cx="219456" cy="219456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8942832" y="3959351"/>
            <a:ext cx="219456" cy="219456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095744" y="5257799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66060" y="5559551"/>
            <a:ext cx="6858000" cy="59436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b="1" dirty="0" err="1">
                <a:solidFill>
                  <a:srgbClr val="FFFFFF"/>
                </a:solidFill>
                <a:latin typeface="Segoe UI"/>
              </a:rPr>
              <a:t>Phản</a:t>
            </a:r>
            <a:r>
              <a:rPr b="1" dirty="0">
                <a:solidFill>
                  <a:srgbClr val="FFFFFF"/>
                </a:solidFill>
                <a:latin typeface="Segoe UI"/>
              </a:rPr>
              <a:t> </a:t>
            </a:r>
            <a:r>
              <a:rPr b="1" dirty="0" err="1">
                <a:solidFill>
                  <a:srgbClr val="FFFFFF"/>
                </a:solidFill>
                <a:latin typeface="Segoe UI"/>
              </a:rPr>
              <a:t>hồi</a:t>
            </a:r>
            <a:r>
              <a:rPr b="1" dirty="0">
                <a:solidFill>
                  <a:srgbClr val="FFFFFF"/>
                </a:solidFill>
                <a:latin typeface="Segoe UI"/>
              </a:rPr>
              <a:t> </a:t>
            </a:r>
            <a:r>
              <a:rPr b="1" dirty="0" err="1">
                <a:solidFill>
                  <a:srgbClr val="FFFFFF"/>
                </a:solidFill>
                <a:latin typeface="Segoe UI"/>
              </a:rPr>
              <a:t>kết</a:t>
            </a:r>
            <a:r>
              <a:rPr b="1" dirty="0">
                <a:solidFill>
                  <a:srgbClr val="FFFFFF"/>
                </a:solidFill>
                <a:latin typeface="Segoe UI"/>
              </a:rPr>
              <a:t> </a:t>
            </a:r>
            <a:r>
              <a:rPr b="1" dirty="0" err="1">
                <a:solidFill>
                  <a:srgbClr val="FFFFFF"/>
                </a:solidFill>
                <a:latin typeface="Segoe UI"/>
              </a:rPr>
              <a:t>quả</a:t>
            </a:r>
            <a:r>
              <a:rPr b="1" dirty="0">
                <a:solidFill>
                  <a:srgbClr val="FFFFFF"/>
                </a:solidFill>
                <a:latin typeface="Segoe UI"/>
              </a:rPr>
              <a:t> </a:t>
            </a:r>
            <a:r>
              <a:rPr b="1" dirty="0" err="1">
                <a:solidFill>
                  <a:srgbClr val="FFFFFF"/>
                </a:solidFill>
                <a:latin typeface="Segoe UI"/>
              </a:rPr>
              <a:t>cho</a:t>
            </a:r>
            <a:r>
              <a:rPr b="1" dirty="0">
                <a:solidFill>
                  <a:srgbClr val="FFFFFF"/>
                </a:solidFill>
                <a:latin typeface="Segoe UI"/>
              </a:rPr>
              <a:t> </a:t>
            </a:r>
            <a:r>
              <a:rPr b="1" dirty="0" err="1">
                <a:solidFill>
                  <a:srgbClr val="FFFFFF"/>
                </a:solidFill>
                <a:latin typeface="Segoe UI"/>
              </a:rPr>
              <a:t>người</a:t>
            </a:r>
            <a:r>
              <a:rPr b="1" dirty="0">
                <a:solidFill>
                  <a:srgbClr val="FFFFFF"/>
                </a:solidFill>
                <a:latin typeface="Segoe UI"/>
              </a:rPr>
              <a:t> </a:t>
            </a:r>
            <a:r>
              <a:rPr b="1" dirty="0" err="1">
                <a:solidFill>
                  <a:srgbClr val="FFFFFF"/>
                </a:solidFill>
                <a:latin typeface="Segoe UI"/>
              </a:rPr>
              <a:t>học</a:t>
            </a:r>
            <a:endParaRPr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Giải pháp đề xuất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02 - GIẢI PHÁP &amp;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Công nghệ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81051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67712"/>
            <a:ext cx="3246120" cy="156017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4F46E5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React 19 + TypeScript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4F46E5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Vite 8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4F46E5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Tailwind CSS 4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4F46E5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React Router 7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4F46E5"/>
                </a:solidFill>
                <a:latin typeface="Segoe UI"/>
              </a:rPr>
              <a:t>-  </a:t>
            </a:r>
            <a:r>
              <a:rPr sz="1100" dirty="0" err="1">
                <a:solidFill>
                  <a:srgbClr val="334155"/>
                </a:solidFill>
                <a:latin typeface="Segoe UI"/>
              </a:rPr>
              <a:t>TanStack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 React Query 5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4F46E5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810512"/>
            <a:ext cx="1156716" cy="310896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267712"/>
            <a:ext cx="3246120" cy="780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9333EA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Node.js + Express 5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9333EA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TypeScript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endParaRPr sz="1100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01000" y="164592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3880" y="181051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267712"/>
            <a:ext cx="3246120" cy="780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10B981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MongoDB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10B981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Mongoose 9 (ODM)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10B981"/>
                </a:solidFill>
                <a:latin typeface="Segoe UI"/>
              </a:rPr>
              <a:t>-  </a:t>
            </a:r>
            <a:r>
              <a:rPr sz="1100" dirty="0" err="1">
                <a:solidFill>
                  <a:srgbClr val="334155"/>
                </a:solidFill>
                <a:latin typeface="Segoe UI"/>
              </a:rPr>
              <a:t>Cơ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334155"/>
                </a:solidFill>
                <a:latin typeface="Segoe UI"/>
              </a:rPr>
              <a:t>chế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 fallback In-Memory 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6908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423367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90872"/>
            <a:ext cx="3246120" cy="780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F59E0B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Google Gemini (@google/genai)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F59E0B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Provider Abstraction Pattern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 dirty="0">
                <a:solidFill>
                  <a:srgbClr val="F59E0B"/>
                </a:solidFill>
                <a:latin typeface="Segoe UI"/>
              </a:rPr>
              <a:t>-  </a:t>
            </a:r>
            <a:r>
              <a:rPr sz="1100" dirty="0">
                <a:solidFill>
                  <a:srgbClr val="334155"/>
                </a:solidFill>
                <a:latin typeface="Segoe UI"/>
              </a:rPr>
              <a:t>Heuristic Fallback Provider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06908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34840" y="4233672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690872"/>
            <a:ext cx="324612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E11D48"/>
                </a:solidFill>
                <a:latin typeface="Segoe UI"/>
              </a:rPr>
              <a:t>-  </a:t>
            </a:r>
            <a:r>
              <a:rPr sz="1100">
                <a:solidFill>
                  <a:srgbClr val="334155"/>
                </a:solidFill>
                <a:latin typeface="Segoe UI"/>
              </a:rPr>
              <a:t>JWT Access Token (15 phút)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E11D48"/>
                </a:solidFill>
                <a:latin typeface="Segoe UI"/>
              </a:rPr>
              <a:t>-  </a:t>
            </a:r>
            <a:r>
              <a:rPr sz="1100">
                <a:solidFill>
                  <a:srgbClr val="334155"/>
                </a:solidFill>
                <a:latin typeface="Segoe UI"/>
              </a:rPr>
              <a:t>Refresh Token riêng biệt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E11D48"/>
                </a:solidFill>
                <a:latin typeface="Segoe UI"/>
              </a:rPr>
              <a:t>-  </a:t>
            </a:r>
            <a:r>
              <a:rPr sz="1100">
                <a:solidFill>
                  <a:srgbClr val="334155"/>
                </a:solidFill>
                <a:latin typeface="Segoe UI"/>
              </a:rPr>
              <a:t>HttpOnly Cookie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E11D48"/>
                </a:solidFill>
                <a:latin typeface="Segoe UI"/>
              </a:rPr>
              <a:t>-  </a:t>
            </a:r>
            <a:r>
              <a:rPr sz="1100">
                <a:solidFill>
                  <a:srgbClr val="334155"/>
                </a:solidFill>
                <a:latin typeface="Segoe UI"/>
              </a:rPr>
              <a:t>bcrypt (hash mật khẩu)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06908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83880" y="4233672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TRIỂN KHAI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690872"/>
            <a:ext cx="324612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0EA5E9"/>
                </a:solidFill>
                <a:latin typeface="Segoe UI"/>
              </a:rPr>
              <a:t>-  </a:t>
            </a:r>
            <a:r>
              <a:rPr sz="1100">
                <a:solidFill>
                  <a:srgbClr val="334155"/>
                </a:solidFill>
                <a:latin typeface="Segoe UI"/>
              </a:rPr>
              <a:t>PM2 (quản lý tiến trình Node.js)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0EA5E9"/>
                </a:solidFill>
                <a:latin typeface="Segoe UI"/>
              </a:rPr>
              <a:t>-  </a:t>
            </a:r>
            <a:r>
              <a:rPr sz="1100">
                <a:solidFill>
                  <a:srgbClr val="334155"/>
                </a:solidFill>
                <a:latin typeface="Segoe UI"/>
              </a:rPr>
              <a:t>1 Express server phục vụ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1">
                <a:solidFill>
                  <a:srgbClr val="0EA5E9"/>
                </a:solidFill>
                <a:latin typeface="Segoe UI"/>
              </a:rPr>
              <a:t>-  </a:t>
            </a:r>
            <a:r>
              <a:rPr sz="1100">
                <a:solidFill>
                  <a:srgbClr val="334155"/>
                </a:solidFill>
                <a:latin typeface="Segoe UI"/>
              </a:rPr>
              <a:t>cả API + 2 giao diện SPA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Công nghệ sử dụng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5B4FC"/>
                </a:solidFill>
                <a:latin typeface="Segoe UI"/>
              </a:rPr>
              <a:t>02 - GIẢI PHÁP &amp;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29887" y="1691640"/>
            <a:ext cx="3931920" cy="566928"/>
          </a:xfrm>
          <a:prstGeom prst="roundRect">
            <a:avLst>
              <a:gd name="adj" fmla="val 9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Người dùng (User / Admin)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7831" y="2286000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66847" y="2606040"/>
            <a:ext cx="6858000" cy="566928"/>
          </a:xfrm>
          <a:prstGeom prst="roundRect">
            <a:avLst>
              <a:gd name="adj" fmla="val 9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React SPA:  index.html (User)  |  admin.html (Admin)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7831" y="3200400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83967" y="3520440"/>
            <a:ext cx="7223760" cy="566928"/>
          </a:xfrm>
          <a:prstGeom prst="roundRect">
            <a:avLst>
              <a:gd name="adj" fmla="val 9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Segoe UI"/>
              </a:rPr>
              <a:t>Express Server (</a:t>
            </a:r>
            <a:r>
              <a:rPr sz="1350" b="1" dirty="0" err="1">
                <a:solidFill>
                  <a:srgbClr val="FFFFFF"/>
                </a:solidFill>
                <a:latin typeface="Segoe UI"/>
              </a:rPr>
              <a:t>app.ts</a:t>
            </a:r>
            <a:r>
              <a:rPr sz="1350" b="1" dirty="0">
                <a:solidFill>
                  <a:srgbClr val="FFFFFF"/>
                </a:solidFill>
                <a:latin typeface="Segoe UI"/>
              </a:rPr>
              <a:t>) - </a:t>
            </a:r>
            <a:r>
              <a:rPr sz="1350" b="1" dirty="0" err="1">
                <a:solidFill>
                  <a:srgbClr val="FFFFFF"/>
                </a:solidFill>
                <a:latin typeface="Segoe UI"/>
              </a:rPr>
              <a:t>định</a:t>
            </a:r>
            <a:r>
              <a:rPr sz="135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Segoe UI"/>
              </a:rPr>
              <a:t>tuyến</a:t>
            </a:r>
            <a:r>
              <a:rPr sz="135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Segoe UI"/>
              </a:rPr>
              <a:t>theo</a:t>
            </a:r>
            <a:r>
              <a:rPr sz="1350" b="1" dirty="0">
                <a:solidFill>
                  <a:srgbClr val="FFFFFF"/>
                </a:solidFill>
                <a:latin typeface="Segoe UI"/>
              </a:rPr>
              <a:t> /</a:t>
            </a:r>
            <a:r>
              <a:rPr sz="1350" b="1" dirty="0" err="1">
                <a:solidFill>
                  <a:srgbClr val="FFFFFF"/>
                </a:solidFill>
                <a:latin typeface="Segoe UI"/>
              </a:rPr>
              <a:t>api</a:t>
            </a:r>
            <a:r>
              <a:rPr sz="135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Segoe UI"/>
              </a:rPr>
              <a:t>và</a:t>
            </a:r>
            <a:r>
              <a:rPr sz="1350" b="1" dirty="0">
                <a:solidFill>
                  <a:srgbClr val="FFFFFF"/>
                </a:solidFill>
                <a:latin typeface="Segoe UI"/>
              </a:rPr>
              <a:t> prefix /admin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67831" y="4114800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52647" y="4434840"/>
            <a:ext cx="5486400" cy="566928"/>
          </a:xfrm>
          <a:prstGeom prst="roundRect">
            <a:avLst>
              <a:gd name="adj" fmla="val 9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Routes -&gt; Controllers -&gt; Services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047591" y="5029200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7888071" y="5029200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98767" y="5349240"/>
            <a:ext cx="2834640" cy="777240"/>
          </a:xfrm>
          <a:prstGeom prst="roundRect">
            <a:avLst>
              <a:gd name="adj" fmla="val 9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AI Service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Gemini Provider / Heuristic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8287" y="5349240"/>
            <a:ext cx="2834640" cy="777240"/>
          </a:xfrm>
          <a:prstGeom prst="roundRect">
            <a:avLst>
              <a:gd name="adj" fmla="val 9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MongoDB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+ In-memory fallback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03 - CHỨC NĂNG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Các chức năng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2578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257800" cy="914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4F46E5"/>
                </a:solidFill>
                <a:latin typeface="Segoe UI"/>
              </a:rPr>
              <a:t>USER - Học &amp; Luyện tập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221992"/>
            <a:ext cx="481888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4F46E5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Writing Learning (Learn / Examples / Practice / AI Writing / Progress)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4F46E5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AI Writing: chọn chủ đề + cấp độ + thì -&gt; AI sinh đề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4F46E5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Ngân hàng câu hỏi: duyệt &amp; luyện trực tiếp 1 câu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4F46E5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Viết đoạn văn: AI sinh đề, chấm 7 tiêu chí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6752" y="1600200"/>
            <a:ext cx="52578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16752" y="1600200"/>
            <a:ext cx="5257800" cy="914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8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B981"/>
                </a:solidFill>
                <a:latin typeface="Segoe UI"/>
              </a:rPr>
              <a:t>USER - Kết quả &amp; Theo dõi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221992"/>
            <a:ext cx="481888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10B981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Nhận điểm số + phản hồi lỗi chi tiết tức thì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10B981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Card Gợi ý (từ vựng / ngữ pháp) trước khi làm bài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10B981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Thống kê: tổng số câu, điểm TB, streak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10B981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Chẩn đoán điểm yếu cá nhân hóa bởi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52578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5257800" cy="91440"/>
          </a:xfrm>
          <a:prstGeom prst="round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41148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9333EA"/>
                </a:solidFill>
                <a:latin typeface="Segoe UI"/>
              </a:rPr>
              <a:t>ADMIN - Quản lý nội dung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553712"/>
            <a:ext cx="481888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9333EA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CRUD Ngân hàng câu hỏi Sentence Writing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9333EA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CRUD Đề viết đoạn văn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9333EA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CRUD Nội dung Writing Learning (19 chủ đề)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9333EA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Tra cứu Cấp độ CEFR (A1-C2)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3931920"/>
            <a:ext cx="52578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16752" y="3931920"/>
            <a:ext cx="525780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41148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59E0B"/>
                </a:solidFill>
                <a:latin typeface="Segoe UI"/>
              </a:rPr>
              <a:t>ADMIN - Quản trị hệ thống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4553712"/>
            <a:ext cx="481888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F59E0B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Quản lý người dùng: khóa / mở khóa / xóa / tạo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F59E0B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Lịch sử chấm bài AI hợp nhất toàn hệ thống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F59E0B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Dashboard: tổng người dùng, câu hỏi, lượt chấm, điểm TB</a:t>
            </a:r>
          </a:p>
          <a:p>
            <a:pPr>
              <a:lnSpc>
                <a:spcPct val="108000"/>
              </a:lnSpc>
              <a:spcAft>
                <a:spcPts val="650"/>
              </a:spcAft>
            </a:pPr>
            <a:r>
              <a:rPr sz="1130" b="1">
                <a:solidFill>
                  <a:srgbClr val="F59E0B"/>
                </a:solidFill>
                <a:latin typeface="Segoe UI"/>
              </a:rPr>
              <a:t>-  </a:t>
            </a:r>
            <a:r>
              <a:rPr sz="1130">
                <a:solidFill>
                  <a:srgbClr val="334155"/>
                </a:solidFill>
                <a:latin typeface="Segoe UI"/>
              </a:rPr>
              <a:t>Đăng nhập riêng, độc lập với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Các chức năng chính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03 - CHỨC NĂNG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Quy trình học tập của người dùng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0635" y="22860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847" y="2944368"/>
            <a:ext cx="1691640" cy="75895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287" y="303580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Đăng nhập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3346704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Xác thực bằng JWT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81631" y="3163824"/>
            <a:ext cx="21945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18307" y="22860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28519" y="2944368"/>
            <a:ext cx="1691640" cy="75895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875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19959" y="303580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Chọn nội dung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9959" y="3346704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Chủ đề / Thì / Cấp độ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9303" y="3163824"/>
            <a:ext cx="21945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5979" y="22860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6191" y="2944368"/>
            <a:ext cx="1691640" cy="75895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875">
            <a:solidFill>
              <a:srgbClr val="C02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7631" y="303580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Học lý thuyết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7631" y="3346704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Tab Learn &amp; Examples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6975" y="3163824"/>
            <a:ext cx="21945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13651" y="22860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2944368"/>
            <a:ext cx="1691640" cy="75895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303580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Luyện tập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5303" y="3346704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Practice / AI Writing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24647" y="3163824"/>
            <a:ext cx="21945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61323" y="22860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1535" y="2944368"/>
            <a:ext cx="1691640" cy="75895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62975" y="303580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AI đánh giá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2975" y="3346704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Điểm số + Phản hồi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72319" y="3163824"/>
            <a:ext cx="21945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708995" y="22860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19207" y="2944368"/>
            <a:ext cx="1691640" cy="75895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10647" y="303580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Theo dõi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0647" y="3346704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Lịch sử &amp; Thống kê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Quy trình học tập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04 - HỆ THỐNG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Quy trình AI đánh giá bài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1600200"/>
            <a:ext cx="566928" cy="603504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48256" y="1600200"/>
            <a:ext cx="8741664" cy="603504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7712" y="1655064"/>
            <a:ext cx="2377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Đầu vào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655064"/>
            <a:ext cx="58521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475569"/>
                </a:solidFill>
                <a:latin typeface="Segoe UI"/>
              </a:rPr>
              <a:t>Đề tiếng Việt + câu trả lời tiếng Anh của người học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327148"/>
            <a:ext cx="566928" cy="603504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48256" y="2327148"/>
            <a:ext cx="8741664" cy="603504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7712" y="2382012"/>
            <a:ext cx="2377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Backend nhận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82012"/>
            <a:ext cx="58521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475569"/>
                </a:solidFill>
                <a:latin typeface="Segoe UI"/>
              </a:rPr>
              <a:t>writing.service.ts lấy đáp án chuẩn TỪ DATABASE (chỉ tại server)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054096"/>
            <a:ext cx="566928" cy="603504"/>
          </a:xfrm>
          <a:prstGeom prst="roundRect">
            <a:avLst>
              <a:gd name="adj" fmla="val 16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6" y="3054096"/>
            <a:ext cx="8741664" cy="603504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67712" y="3108960"/>
            <a:ext cx="2377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Xây dựng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108960"/>
            <a:ext cx="58521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475569"/>
                </a:solidFill>
                <a:latin typeface="Segoe UI"/>
              </a:rPr>
              <a:t>Ghép ngữ cảnh (đề bài, cấp độ, đáp án chuẩn, câu trả lời) vào mẫu 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81044"/>
            <a:ext cx="566928" cy="603504"/>
          </a:xfrm>
          <a:prstGeom prst="roundRect">
            <a:avLst>
              <a:gd name="adj" fmla="val 16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48256" y="3781044"/>
            <a:ext cx="8741664" cy="603504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67712" y="3835908"/>
            <a:ext cx="2377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Gọi AI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835908"/>
            <a:ext cx="58521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475569"/>
                </a:solidFill>
                <a:latin typeface="Segoe UI"/>
              </a:rPr>
              <a:t>Gemini (thật sự gọi Google Gemini API) - tự động fallback sang Heuristic nếu lỗi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507992"/>
            <a:ext cx="566928" cy="603504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48256" y="4507992"/>
            <a:ext cx="8741664" cy="603504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67712" y="4562856"/>
            <a:ext cx="2377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Validate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562856"/>
            <a:ext cx="58521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475569"/>
                </a:solidFill>
                <a:latin typeface="Segoe UI"/>
              </a:rPr>
              <a:t>Dùng Zod schema kiểm tra đúng cấu trúc trước khi tin dùng kết quả AI trả về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234940"/>
            <a:ext cx="566928" cy="603504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48256" y="5234940"/>
            <a:ext cx="8741664" cy="603504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67712" y="5289804"/>
            <a:ext cx="23774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Lưu &amp; Phản hồi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289804"/>
            <a:ext cx="58521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475569"/>
                </a:solidFill>
                <a:latin typeface="Segoe UI"/>
              </a:rPr>
              <a:t>Lưu WritingAttempt + WritingError vào MongoDB, trả kết quả về giao diện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đánh giá bài viết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5B4FC"/>
                </a:solidFill>
                <a:latin typeface="Segoe UI"/>
              </a:rPr>
              <a:t>04 - HỆ THỐNG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Kiến trúc AI - Provider Abstraction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98167" y="1691640"/>
            <a:ext cx="8595360" cy="566928"/>
          </a:xfrm>
          <a:prstGeom prst="roundRect">
            <a:avLst>
              <a:gd name="adj" fmla="val 9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Segoe UI"/>
              </a:rPr>
              <a:t>Application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7831" y="2286000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78327" y="2578608"/>
            <a:ext cx="6035040" cy="749808"/>
          </a:xfrm>
          <a:prstGeom prst="roundRect">
            <a:avLst>
              <a:gd name="adj" fmla="val 9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b="1" dirty="0" err="1">
                <a:solidFill>
                  <a:srgbClr val="FFFFFF"/>
                </a:solidFill>
                <a:latin typeface="Segoe UI"/>
              </a:rPr>
              <a:t>AIProvider</a:t>
            </a:r>
            <a:endParaRPr b="0" dirty="0">
              <a:solidFill>
                <a:srgbClr val="E2E8F0"/>
              </a:solidFill>
              <a:latin typeface="Segoe UI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3864711" y="3364992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070951" y="3364992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83967" y="3666744"/>
            <a:ext cx="3017520" cy="749808"/>
          </a:xfrm>
          <a:prstGeom prst="roundRect">
            <a:avLst>
              <a:gd name="adj" fmla="val 9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GeminiProvider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Gọi thật Google Gemini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0207" y="3666744"/>
            <a:ext cx="3017520" cy="749808"/>
          </a:xfrm>
          <a:prstGeom prst="roundRect">
            <a:avLst>
              <a:gd name="adj" fmla="val 9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HeuristicProvider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Rule-based, không gọi mạng - dự phòng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864711" y="4443984"/>
            <a:ext cx="256032" cy="25603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06727" y="4745736"/>
            <a:ext cx="8778240" cy="566928"/>
          </a:xfrm>
          <a:prstGeom prst="roundRect">
            <a:avLst>
              <a:gd name="adj" fmla="val 9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Segoe UI"/>
              </a:rPr>
              <a:t>Prompt Engineering -&gt; Gemini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Kiến trúc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04 - HỆ THỐNG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AI đánh giá câu trả lời như thế nào?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Sentence Writing - 5 tiêu chí (writing-evaluation.prompt.ts, Rule 6)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4242816" cy="566928"/>
          </a:xfrm>
          <a:prstGeom prst="rect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4242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Ngữ pháp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5736" y="2057400"/>
            <a:ext cx="2121408" cy="566928"/>
          </a:xfrm>
          <a:prstGeom prst="rect">
            <a:avLst/>
          </a:prstGeom>
          <a:solidFill>
            <a:srgbClr val="933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269748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Từ vựng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67144" y="2057400"/>
            <a:ext cx="2121408" cy="566928"/>
          </a:xfrm>
          <a:prstGeom prst="rect">
            <a:avLst/>
          </a:prstGeom>
          <a:solidFill>
            <a:srgbClr val="C026D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144" y="269748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Ý nghĩa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8552" y="2057400"/>
            <a:ext cx="1060704" cy="56692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697480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Cấu trúc câu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9256" y="2057400"/>
            <a:ext cx="1060704" cy="56692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9256" y="2697480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Tự nhiên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86200"/>
            <a:ext cx="10607040" cy="960120"/>
          </a:xfrm>
          <a:prstGeom prst="roundRect">
            <a:avLst>
              <a:gd name="adj" fmla="val 14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99592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338CA"/>
                </a:solidFill>
                <a:latin typeface="Segoe UI"/>
              </a:rPr>
              <a:t>Nguyên tắc quan trọng nhất trong prompt: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79392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0" b="0" i="0">
                <a:solidFill>
                  <a:srgbClr val="334155"/>
                </a:solidFill>
                <a:latin typeface="Segoe UI"/>
              </a:rPr>
              <a:t>“Đáp án chuẩn chỉ là MỘT cách dịch khả dĩ, không phải đáp án duy nhất.” AI phải đánh giá đúng/sai theo ngữ pháp và ý nghĩa thật sự của câu, KHÔNG so khớp chuỗi ký tự cứng nhắc với đáp án mẫu.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Paragraph Writing - 7 tiêu chí (không có trọng số cố định trong prompt):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40680"/>
            <a:ext cx="929029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0821" y="5440680"/>
            <a:ext cx="1422804" cy="36576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Organization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92497" y="5440680"/>
            <a:ext cx="1126539" cy="36576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Coherence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908" y="5440680"/>
            <a:ext cx="929029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Grammar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85809" y="5440680"/>
            <a:ext cx="1225294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Vocabulary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9975" y="5440680"/>
            <a:ext cx="2015334" cy="3657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Sentence 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4181" y="5440680"/>
            <a:ext cx="1324049" cy="3657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Naturalness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Tiêu chí đánh giá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04 - HỆ THỐNG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Kết quả phản hồi AI trả về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8311" y="1572768"/>
            <a:ext cx="9701784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270248"/>
            <a:ext cx="9701784" cy="15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 dirty="0">
                <a:solidFill>
                  <a:srgbClr val="475569"/>
                </a:solidFill>
                <a:latin typeface="Segoe U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Phản hồi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13 / 18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0E06F23-ED82-E66F-D941-F6DF8FC07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1783079"/>
            <a:ext cx="9701784" cy="4032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04 - HỆ THỐNG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AI hỗ trợ Viết đoạn văn (Paragraph Writing)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475569"/>
                </a:solidFill>
                <a:latin typeface="Segoe UI"/>
              </a:rPr>
              <a:t>AI đóng vai trò sinh đề và đánh giá / hỗ trợ học tập - KHÔNG viết thay đoạn văn cho người học.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303" y="2331720"/>
            <a:ext cx="1444752" cy="105156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Segoe UI"/>
              </a:rPr>
              <a:t>Chọn</a:t>
            </a:r>
            <a:r>
              <a:rPr sz="115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Segoe UI"/>
              </a:rPr>
              <a:t>chủ</a:t>
            </a:r>
            <a:r>
              <a:rPr sz="115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Segoe UI"/>
              </a:rPr>
              <a:t>đề</a:t>
            </a:r>
            <a:endParaRPr sz="1150" b="1" dirty="0">
              <a:solidFill>
                <a:srgbClr val="FFFFFF"/>
              </a:solidFill>
              <a:latin typeface="Segoe UI"/>
            </a:endParaRPr>
          </a:p>
          <a:p>
            <a:pPr algn="ctr"/>
            <a:r>
              <a:rPr sz="1150" b="1" dirty="0">
                <a:solidFill>
                  <a:srgbClr val="FFFFFF"/>
                </a:solidFill>
                <a:latin typeface="Segoe UI"/>
              </a:rPr>
              <a:t>+ </a:t>
            </a:r>
            <a:r>
              <a:rPr sz="1150" b="1" dirty="0" err="1">
                <a:solidFill>
                  <a:srgbClr val="FFFFFF"/>
                </a:solidFill>
                <a:latin typeface="Segoe UI"/>
              </a:rPr>
              <a:t>độ</a:t>
            </a:r>
            <a:r>
              <a:rPr sz="115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Segoe UI"/>
              </a:rPr>
              <a:t>khó</a:t>
            </a:r>
            <a:endParaRPr sz="115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049627" y="2784348"/>
            <a:ext cx="146304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191359" y="2331720"/>
            <a:ext cx="1444752" cy="105156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AI sinh đề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(tiếng Việt)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40683" y="2784348"/>
            <a:ext cx="146304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82415" y="2331720"/>
            <a:ext cx="1444752" cy="1051560"/>
          </a:xfrm>
          <a:prstGeom prst="roundRect">
            <a:avLst>
              <a:gd name="adj" fmla="val 12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Viết đoạn văn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tiếng Anh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31739" y="2784348"/>
            <a:ext cx="146304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73471" y="2331720"/>
            <a:ext cx="1444752" cy="10515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Nộp bài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22795" y="2784348"/>
            <a:ext cx="146304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64527" y="2331720"/>
            <a:ext cx="1444752" cy="105156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AI chấm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7 tiêu chí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13851" y="2784348"/>
            <a:ext cx="146304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55583" y="2331720"/>
            <a:ext cx="1444752" cy="105156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Điểm + Bản sửa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gợi ý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04907" y="2784348"/>
            <a:ext cx="146304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46639" y="2331720"/>
            <a:ext cx="1444752" cy="105156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Lưu lịch sử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các lần sửa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Chấm theo 7 tiêu chí: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0520"/>
            <a:ext cx="1156716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Segoe UI"/>
              </a:rPr>
              <a:t>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78508" y="416052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Organization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71316" y="4160520"/>
            <a:ext cx="1403604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Coherence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3792" y="4160520"/>
            <a:ext cx="1156716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Grammar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9380" y="41605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Vocabulary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5300" y="4160520"/>
            <a:ext cx="1403604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7776" y="4160520"/>
            <a:ext cx="1650492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Naturalness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- Paragraph Writing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9754EDEA-053B-1F9A-0E8F-088A012F0BCA}"/>
              </a:ext>
            </a:extLst>
          </p:cNvPr>
          <p:cNvSpPr/>
          <p:nvPr/>
        </p:nvSpPr>
        <p:spPr>
          <a:xfrm>
            <a:off x="754380" y="1651819"/>
            <a:ext cx="4918833" cy="454781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05 - DỮ LIỆU &amp;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Minh họa giao diện hệ thống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Demo giao diện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16 / 18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BB2D5E7-E331-9405-31C8-720A13FE1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92027"/>
            <a:ext cx="4761575" cy="411519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364AF82-7612-D646-DF07-49C66D1FE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568" y="1792027"/>
            <a:ext cx="5657974" cy="41151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06 -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"/>
              </a:rPr>
              <a:t>Kết quả đạt được và hạn chế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ĐÃ ĐẠT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257800" cy="429861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Web app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hoàn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chỉnh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: User Portal + Admin Portal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độc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lập</a:t>
            </a:r>
            <a:endParaRPr sz="16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Sentence Writing, Ngân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hàng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câu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hỏi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Paragraph Writing, Writing Learning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Tích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hợp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AI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thật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(Google Gemini)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để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sinh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đề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và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chấm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điểm</a:t>
            </a:r>
            <a:endParaRPr sz="16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Phản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hồi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chi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tiết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có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giải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thích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lỗi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bằng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Việt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Lưu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lịch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sử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làm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bài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thống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kê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độ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chẩn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đoán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điểm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yếu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bằng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AI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Admin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quản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trị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đầy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đủ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: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người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dùng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nội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dung,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lịch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sử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chấm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bài</a:t>
            </a:r>
            <a:endParaRPr sz="16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10B981"/>
                </a:solidFill>
                <a:latin typeface="Segoe UI"/>
              </a:rPr>
              <a:t>• 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MongoDB +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cơ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chế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fallback in-memory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khi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chưa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có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2763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Segoe UI"/>
              </a:rPr>
              <a:t>HẠN CHẾ CÒN TỒN TẠI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65960"/>
            <a:ext cx="5349240" cy="205255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Chưa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có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trang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“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Lịch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sử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của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tôi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”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riêng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cho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User (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mới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thấy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ở Admin)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Rate limiter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và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phiên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AI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lưu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trong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bộ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nhớ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tiến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trình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-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chưa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sẵn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sàng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cho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nhiều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instance server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chạy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song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song</a:t>
            </a:r>
            <a:endParaRPr sz="16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Chưa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triển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khai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RAG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cho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nội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dung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học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tập</a:t>
            </a:r>
            <a:endParaRPr sz="1600" dirty="0">
              <a:solidFill>
                <a:srgbClr val="334155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 dirty="0">
                <a:solidFill>
                  <a:srgbClr val="E11D48"/>
                </a:solidFill>
                <a:latin typeface="Segoe UI"/>
              </a:rPr>
              <a:t>• 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Chưa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có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UI Admin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riêng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để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quản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lý</a:t>
            </a:r>
            <a:r>
              <a:rPr sz="1600" dirty="0">
                <a:solidFill>
                  <a:srgbClr val="334155"/>
                </a:solidFill>
                <a:latin typeface="Segoe UI"/>
              </a:rPr>
              <a:t> Topic/</a:t>
            </a:r>
            <a:r>
              <a:rPr sz="1600" dirty="0" err="1">
                <a:solidFill>
                  <a:srgbClr val="334155"/>
                </a:solidFill>
                <a:latin typeface="Segoe UI"/>
              </a:rPr>
              <a:t>GrammarTopic</a:t>
            </a:r>
            <a:endParaRPr sz="1600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Kết quả - Ưu điểm - Hạn chế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5B4FC"/>
                </a:solidFill>
                <a:latin typeface="Segoe UI"/>
              </a:rPr>
              <a:t>07 -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Kết luận và 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50292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5B4FC"/>
                </a:solidFill>
                <a:latin typeface="Segoe UI"/>
              </a:rPr>
              <a:t>KẾT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5257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2E8F0"/>
                </a:solidFill>
                <a:latin typeface="Segoe UI"/>
              </a:rPr>
              <a:t>Hệ thống AI English Writing đã xây dựng thành công một nền tảng luyện viết tiếng Anh hoàn chỉnh, cho phép người học luyện tập theo trình độ / chủ đề / ngữ pháp, tích hợp AI (Google Gemini) để đánh giá và phản hồi tức thì, đồng thời cung cấp công cụ quản trị đầy đủ cho Admin.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9164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5B4FC"/>
                </a:solidFill>
                <a:latin typeface="Segoe UI"/>
              </a:rPr>
              <a:t>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29968"/>
            <a:ext cx="534924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200">
                <a:solidFill>
                  <a:srgbClr val="E2E8F0"/>
                </a:solidFill>
                <a:latin typeface="Segoe UI"/>
              </a:rPr>
              <a:t>RAG (Retrieval-Augmented Generation) cho nội dung học tập cá nhân hóa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200">
                <a:solidFill>
                  <a:srgbClr val="E2E8F0"/>
                </a:solidFill>
                <a:latin typeface="Segoe UI"/>
              </a:rPr>
              <a:t>Cải thiện Prompt Engineering, bổ sung ví dụ huấn luyện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200">
                <a:solidFill>
                  <a:srgbClr val="E2E8F0"/>
                </a:solidFill>
                <a:latin typeface="Segoe UI"/>
              </a:rPr>
              <a:t>Hỗ trợ thêm AI Provider khác (interface đã sẵn sàng mở rộng)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200">
                <a:solidFill>
                  <a:srgbClr val="E2E8F0"/>
                </a:solidFill>
                <a:latin typeface="Segoe UI"/>
              </a:rPr>
              <a:t>Cá nhân hóa lộ trình học theo năng lực từng người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200">
                <a:solidFill>
                  <a:srgbClr val="E2E8F0"/>
                </a:solidFill>
                <a:latin typeface="Segoe UI"/>
              </a:rPr>
              <a:t>Phân tích lỗi chuyên sâu hơn, thống kê theo thời gian dài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200">
                <a:solidFill>
                  <a:srgbClr val="E2E8F0"/>
                </a:solidFill>
                <a:latin typeface="Segoe UI"/>
              </a:rPr>
              <a:t>Hệ thống gợi ý (recommendation) bài luyện tiếp theo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989320"/>
            <a:ext cx="1115568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55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 err="1">
                <a:solidFill>
                  <a:srgbClr val="FFFFFF"/>
                </a:solidFill>
                <a:latin typeface="Segoe UI"/>
              </a:rPr>
              <a:t>Cảm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ơn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 Quý 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Thầy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/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Cô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đã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lắng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nghe</a:t>
            </a:r>
            <a:endParaRPr sz="15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215" y="6473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AI ENGLISH 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7395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2080</Words>
  <Application>Microsoft Office PowerPoint</Application>
  <PresentationFormat>Widescreen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Trần Huy Hoàng - 67IT3</cp:lastModifiedBy>
  <cp:revision>3</cp:revision>
  <dcterms:created xsi:type="dcterms:W3CDTF">2013-01-27T09:14:16Z</dcterms:created>
  <dcterms:modified xsi:type="dcterms:W3CDTF">2026-09-14T15:00:06Z</dcterms:modified>
  <cp:category/>
</cp:coreProperties>
</file>